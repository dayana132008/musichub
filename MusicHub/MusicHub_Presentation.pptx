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8" r:id="rId3"/>
    <p:sldId id="257" r:id="rId4"/>
    <p:sldId id="273" r:id="rId5"/>
    <p:sldId id="259" r:id="rId6"/>
    <p:sldId id="260" r:id="rId7"/>
    <p:sldId id="262" r:id="rId8"/>
    <p:sldId id="266" r:id="rId9"/>
    <p:sldId id="263" r:id="rId10"/>
    <p:sldId id="271" r:id="rId11"/>
    <p:sldId id="272" r:id="rId12"/>
    <p:sldId id="270" r:id="rId13"/>
    <p:sldId id="264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DB11A"/>
    <a:srgbClr val="549E39"/>
    <a:srgbClr val="1C1C1C"/>
    <a:srgbClr val="E1A6E2"/>
    <a:srgbClr val="2E2E2E"/>
    <a:srgbClr val="111111"/>
    <a:srgbClr val="D583D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28" autoAdjust="0"/>
    <p:restoredTop sz="94635"/>
  </p:normalViewPr>
  <p:slideViewPr>
    <p:cSldViewPr snapToGrid="0">
      <p:cViewPr varScale="1">
        <p:scale>
          <a:sx n="115" d="100"/>
          <a:sy n="115" d="100"/>
        </p:scale>
        <p:origin x="57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Заглавен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rgbClr val="FFFFFF"/>
                </a:solidFill>
              </a:defRPr>
            </a:lvl1pPr>
          </a:lstStyle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rgbClr val="FFFFFF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bg-BG"/>
              <a:t>Щракнете, за да редактирате стила на подзаглавието в образеца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352975F7-3665-4462-BE55-2C56A6A7F420}" type="datetimeFigureOut">
              <a:rPr lang="bg-BG" smtClean="0"/>
              <a:t>17.01.26 г.</a:t>
            </a:fld>
            <a:endParaRPr lang="bg-BG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bg-BG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F65FAAE1-1F14-4108-9DDC-F3FBCA6C944B}" type="slidenum">
              <a:rPr lang="bg-BG" smtClean="0"/>
              <a:t>‹#›</a:t>
            </a:fld>
            <a:endParaRPr lang="bg-BG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94919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лавие и съдържа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975F7-3665-4462-BE55-2C56A6A7F420}" type="datetimeFigureOut">
              <a:rPr lang="bg-BG" smtClean="0"/>
              <a:t>17.01.26 г.</a:t>
            </a:fld>
            <a:endParaRPr lang="bg-BG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FAAE1-1F14-4108-9DDC-F3FBCA6C944B}" type="slidenum">
              <a:rPr lang="bg-BG" smtClean="0"/>
              <a:t>‹#›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9589394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лавка разд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975F7-3665-4462-BE55-2C56A6A7F420}" type="datetimeFigureOut">
              <a:rPr lang="bg-BG" smtClean="0"/>
              <a:t>17.01.26 г.</a:t>
            </a:fld>
            <a:endParaRPr lang="bg-BG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FAAE1-1F14-4108-9DDC-F3FBCA6C944B}" type="slidenum">
              <a:rPr lang="bg-BG" smtClean="0"/>
              <a:t>‹#›</a:t>
            </a:fld>
            <a:endParaRPr lang="bg-BG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90421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е съдържани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975F7-3665-4462-BE55-2C56A6A7F420}" type="datetimeFigureOut">
              <a:rPr lang="bg-BG" smtClean="0"/>
              <a:t>17.01.26 г.</a:t>
            </a:fld>
            <a:endParaRPr lang="bg-BG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FAAE1-1F14-4108-9DDC-F3FBCA6C944B}" type="slidenum">
              <a:rPr lang="bg-BG" smtClean="0"/>
              <a:t>‹#›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7543698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975F7-3665-4462-BE55-2C56A6A7F420}" type="datetimeFigureOut">
              <a:rPr lang="bg-BG" smtClean="0"/>
              <a:t>17.01.26 г.</a:t>
            </a:fld>
            <a:endParaRPr lang="bg-BG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FAAE1-1F14-4108-9DDC-F3FBCA6C944B}" type="slidenum">
              <a:rPr lang="bg-BG" smtClean="0"/>
              <a:t>‹#›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558815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Само заглав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975F7-3665-4462-BE55-2C56A6A7F420}" type="datetimeFigureOut">
              <a:rPr lang="bg-BG" smtClean="0"/>
              <a:t>17.01.26 г.</a:t>
            </a:fld>
            <a:endParaRPr lang="bg-BG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FAAE1-1F14-4108-9DDC-F3FBCA6C944B}" type="slidenum">
              <a:rPr lang="bg-BG" smtClean="0"/>
              <a:t>‹#›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6252689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разе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975F7-3665-4462-BE55-2C56A6A7F420}" type="datetimeFigureOut">
              <a:rPr lang="bg-BG" smtClean="0"/>
              <a:t>17.01.26 г.</a:t>
            </a:fld>
            <a:endParaRPr lang="bg-BG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FAAE1-1F14-4108-9DDC-F3FBCA6C944B}" type="slidenum">
              <a:rPr lang="bg-BG" smtClean="0"/>
              <a:t>‹#›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38134830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Съдържание с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975F7-3665-4462-BE55-2C56A6A7F420}" type="datetimeFigureOut">
              <a:rPr lang="bg-BG" smtClean="0"/>
              <a:t>17.01.26 г.</a:t>
            </a:fld>
            <a:endParaRPr lang="bg-BG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FAAE1-1F14-4108-9DDC-F3FBCA6C944B}" type="slidenum">
              <a:rPr lang="bg-BG" smtClean="0"/>
              <a:t>‹#›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28736970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Картина с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bg-BG" dirty="0"/>
              <a:t>Щракнете върху иконата, за да добавите картина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bg-BG"/>
              <a:t>Щракнете, за да редактирате стиловете на текста в образеца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975F7-3665-4462-BE55-2C56A6A7F420}" type="datetimeFigureOut">
              <a:rPr lang="bg-BG" smtClean="0"/>
              <a:t>17.01.26 г.</a:t>
            </a:fld>
            <a:endParaRPr lang="bg-BG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FAAE1-1F14-4108-9DDC-F3FBCA6C944B}" type="slidenum">
              <a:rPr lang="bg-BG" smtClean="0"/>
              <a:t>‹#›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31969264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лавие и вертикален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975F7-3665-4462-BE55-2C56A6A7F420}" type="datetimeFigureOut">
              <a:rPr lang="bg-BG" smtClean="0"/>
              <a:t>17.01.26 г.</a:t>
            </a:fld>
            <a:endParaRPr lang="bg-BG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FAAE1-1F14-4108-9DDC-F3FBCA6C944B}" type="slidenum">
              <a:rPr lang="bg-BG" smtClean="0"/>
              <a:t>‹#›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9918604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но заглавие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2975F7-3665-4462-BE55-2C56A6A7F420}" type="datetimeFigureOut">
              <a:rPr lang="bg-BG" smtClean="0"/>
              <a:t>17.01.26 г.</a:t>
            </a:fld>
            <a:endParaRPr lang="bg-BG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5FAAE1-1F14-4108-9DDC-F3FBCA6C944B}" type="slidenum">
              <a:rPr lang="bg-BG" smtClean="0"/>
              <a:t>‹#›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2504789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bg-BG"/>
              <a:t>Редакт. стил загл. образец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bg-BG"/>
              <a:t>Щракнете, за да редактирате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352975F7-3665-4462-BE55-2C56A6A7F420}" type="datetimeFigureOut">
              <a:rPr lang="bg-BG" smtClean="0"/>
              <a:t>17.01.26 г.</a:t>
            </a:fld>
            <a:endParaRPr lang="bg-BG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endParaRPr lang="bg-BG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F65FAAE1-1F14-4108-9DDC-F3FBCA6C944B}" type="slidenum">
              <a:rPr lang="bg-BG" smtClean="0"/>
              <a:t>‹#›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9975122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accent1"/>
        </a:buClr>
        <a:buSzPct val="80000"/>
        <a:buFont typeface="Corbel" pitchFamily="34" charset="0"/>
        <a:buChar char="•"/>
        <a:defRPr sz="2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MySQL/default.asp" TargetMode="External"/><Relationship Id="rId2" Type="http://schemas.openxmlformats.org/officeDocument/2006/relationships/hyperlink" Target="https://dev.mysql.com/doc/workbench/en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jpeg"/><Relationship Id="rId4" Type="http://schemas.openxmlformats.org/officeDocument/2006/relationships/hyperlink" Target="https://www.chatgpt.com/" TargetMode="Externa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81891" y="399011"/>
            <a:ext cx="53201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bg-BG" dirty="0"/>
          </a:p>
        </p:txBody>
      </p:sp>
      <p:sp>
        <p:nvSpPr>
          <p:cNvPr id="10" name="TextBox 9"/>
          <p:cNvSpPr txBox="1"/>
          <p:nvPr/>
        </p:nvSpPr>
        <p:spPr>
          <a:xfrm>
            <a:off x="778678" y="1745170"/>
            <a:ext cx="8627311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500" dirty="0">
                <a:solidFill>
                  <a:schemeClr val="bg1"/>
                </a:solidFill>
                <a:latin typeface="Bernard MT Condensed" panose="02050806060905020404" pitchFamily="18" charset="0"/>
              </a:rPr>
              <a:t>MusicHub</a:t>
            </a:r>
            <a:endParaRPr lang="bg-BG" sz="11500"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24741" y="5485767"/>
            <a:ext cx="410633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bg-BG" sz="1600" dirty="0">
                <a:solidFill>
                  <a:schemeClr val="bg1"/>
                </a:solidFill>
              </a:rPr>
              <a:t>Изготвили:</a:t>
            </a:r>
          </a:p>
          <a:p>
            <a:r>
              <a:rPr lang="bg-BG" sz="1600" dirty="0">
                <a:solidFill>
                  <a:schemeClr val="bg1"/>
                </a:solidFill>
              </a:rPr>
              <a:t>Димитър Белинов</a:t>
            </a:r>
          </a:p>
          <a:p>
            <a:r>
              <a:rPr lang="bg-BG" sz="1600" dirty="0">
                <a:solidFill>
                  <a:schemeClr val="bg1"/>
                </a:solidFill>
              </a:rPr>
              <a:t>Виктория Минчева</a:t>
            </a:r>
          </a:p>
          <a:p>
            <a:r>
              <a:rPr lang="bg-BG" sz="1600" dirty="0">
                <a:solidFill>
                  <a:schemeClr val="bg1"/>
                </a:solidFill>
              </a:rPr>
              <a:t>Даяна Кънчева</a:t>
            </a:r>
            <a:endParaRPr lang="en-US" sz="1600" dirty="0">
              <a:solidFill>
                <a:schemeClr val="bg1"/>
              </a:solidFill>
            </a:endParaRP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1296" y="951481"/>
            <a:ext cx="5748696" cy="7660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47420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6315" y="365125"/>
            <a:ext cx="11299370" cy="1325563"/>
          </a:xfrm>
        </p:spPr>
        <p:txBody>
          <a:bodyPr/>
          <a:lstStyle/>
          <a:p>
            <a:pPr algn="ctr"/>
            <a:r>
              <a:rPr lang="bg-BG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alibri bold" panose="020F0702030404030204" pitchFamily="34" charset="0"/>
                <a:cs typeface="Calibri bold" panose="020F0702030404030204" pitchFamily="34" charset="0"/>
              </a:rPr>
              <a:t>ЗА НАС: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9434" y="2128099"/>
            <a:ext cx="5738712" cy="3480964"/>
          </a:xfrm>
        </p:spPr>
        <p:txBody>
          <a:bodyPr>
            <a:normAutofit/>
          </a:bodyPr>
          <a:lstStyle/>
          <a:p>
            <a:r>
              <a:rPr lang="ru-RU" dirty="0"/>
              <a:t>Ние </a:t>
            </a:r>
            <a:r>
              <a:rPr lang="bg-BG" dirty="0"/>
              <a:t>сме</a:t>
            </a:r>
            <a:r>
              <a:rPr lang="ru-RU" dirty="0"/>
              <a:t> екип от запалени музикални фенове и млади ИТ специалисти, обединени от интереса си към музиката и технологиите. </a:t>
            </a:r>
            <a:endParaRPr lang="en-US" dirty="0"/>
          </a:p>
          <a:p>
            <a:r>
              <a:rPr lang="ru-RU" dirty="0"/>
              <a:t>Създадохме тази база данни с цел да съхраняваме и управляваме структурирана информация за изпълнители, албуми, песни и плейлисти, като предоставяме основа за развитие на модерна музикална стрийминг платформа.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19" t="8953" r="10387" b="3338"/>
          <a:stretch/>
        </p:blipFill>
        <p:spPr>
          <a:xfrm>
            <a:off x="7081524" y="1690688"/>
            <a:ext cx="4090782" cy="432261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1581757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131" y="463750"/>
            <a:ext cx="11562183" cy="1356360"/>
          </a:xfrm>
        </p:spPr>
        <p:txBody>
          <a:bodyPr/>
          <a:lstStyle/>
          <a:p>
            <a:pPr algn="ctr"/>
            <a:r>
              <a:rPr lang="bg-BG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alibri bold" panose="020F0702030404030204" pitchFamily="34" charset="0"/>
                <a:cs typeface="Calibri bold" panose="020F0702030404030204" pitchFamily="34" charset="0"/>
              </a:rPr>
              <a:t>Цел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21569" y="2170197"/>
            <a:ext cx="9947304" cy="1670344"/>
          </a:xfrm>
          <a:ln>
            <a:noFill/>
          </a:ln>
        </p:spPr>
        <p:txBody>
          <a:bodyPr/>
          <a:lstStyle/>
          <a:p>
            <a:pPr marL="45720" indent="0">
              <a:buNone/>
            </a:pPr>
            <a:r>
              <a:rPr lang="bg-BG" dirty="0"/>
              <a:t>Целта</a:t>
            </a:r>
            <a:r>
              <a:rPr lang="ru-RU" dirty="0"/>
              <a:t> на проекта е създаването на добре структурирана релационна база данни за управление на информацията, свързана с музикална стрийминг платформа MusicHub. Базата данни съхранява данни за изпълнители, албуми, песни, плейлисти и потребители, както и връзките между тях. </a:t>
            </a:r>
            <a:endParaRPr lang="bg-BG" dirty="0"/>
          </a:p>
          <a:p>
            <a:endParaRPr lang="bg-BG" dirty="0"/>
          </a:p>
        </p:txBody>
      </p:sp>
      <p:pic>
        <p:nvPicPr>
          <p:cNvPr id="1030" name="Picture 6" descr="Tune symbol music Vector Images &amp; Graphics for Commercial Use | VectorStock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420"/>
          <a:stretch/>
        </p:blipFill>
        <p:spPr bwMode="auto">
          <a:xfrm>
            <a:off x="2000242" y="4034511"/>
            <a:ext cx="8189957" cy="16703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62902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4C3926-8FAC-BCCB-AF58-4397DFF5A7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19DD1-2639-E8DA-21B0-6E991E3F4C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131" y="463750"/>
            <a:ext cx="11562183" cy="1356360"/>
          </a:xfrm>
        </p:spPr>
        <p:txBody>
          <a:bodyPr/>
          <a:lstStyle/>
          <a:p>
            <a:pPr algn="ctr"/>
            <a:r>
              <a:rPr lang="bg-BG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alibri bold" panose="020F0702030404030204" pitchFamily="34" charset="0"/>
                <a:cs typeface="Calibri bold" panose="020F0702030404030204" pitchFamily="34" charset="0"/>
              </a:rPr>
              <a:t>Цел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FD9C7B-97E5-4FA6-2710-BB187EB24A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8405" y="2156274"/>
            <a:ext cx="9947304" cy="1584889"/>
          </a:xfrm>
          <a:ln>
            <a:noFill/>
          </a:ln>
        </p:spPr>
        <p:txBody>
          <a:bodyPr/>
          <a:lstStyle/>
          <a:p>
            <a:pPr marL="45720" indent="0">
              <a:buNone/>
            </a:pPr>
            <a:r>
              <a:rPr lang="ru-RU" dirty="0"/>
              <a:t>Системата позволява ефективно извличане и анализ на информация чрез SQL заявки, като например проследяване на албумите на даден изпълнител, участието на песни в различни плейлисти и управлението на потребителските плейлисти.</a:t>
            </a:r>
            <a:endParaRPr lang="bg-BG" dirty="0"/>
          </a:p>
          <a:p>
            <a:endParaRPr lang="bg-BG" dirty="0"/>
          </a:p>
          <a:p>
            <a:endParaRPr lang="bg-BG" dirty="0"/>
          </a:p>
        </p:txBody>
      </p:sp>
      <p:pic>
        <p:nvPicPr>
          <p:cNvPr id="1030" name="Picture 6" descr="Tune symbol music Vector Images &amp; Graphics for Commercial Use | VectorStock">
            <a:extLst>
              <a:ext uri="{FF2B5EF4-FFF2-40B4-BE49-F238E27FC236}">
                <a16:creationId xmlns:a16="http://schemas.microsoft.com/office/drawing/2014/main" id="{E0C87935-EF51-5361-3A57-65917F675E6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420"/>
          <a:stretch/>
        </p:blipFill>
        <p:spPr bwMode="auto">
          <a:xfrm>
            <a:off x="2000243" y="4077327"/>
            <a:ext cx="8189957" cy="16703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634059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9899" y="1994309"/>
            <a:ext cx="5183386" cy="1683538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 lnSpcReduction="1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bg-BG" sz="1900" dirty="0">
                <a:solidFill>
                  <a:schemeClr val="accent1"/>
                </a:solidFill>
              </a:rPr>
              <a:t>Димитър Белинов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bg-BG" sz="1900" dirty="0">
                <a:solidFill>
                  <a:schemeClr val="accent1"/>
                </a:solidFill>
              </a:rPr>
              <a:t>Проектиране и структуриране на БД</a:t>
            </a:r>
            <a:endParaRPr lang="en-US" sz="1900" dirty="0">
              <a:solidFill>
                <a:schemeClr val="accent1"/>
              </a:solidFill>
            </a:endParaRP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ru-RU" sz="1900" dirty="0">
                <a:solidFill>
                  <a:schemeClr val="accent1"/>
                </a:solidFill>
              </a:rPr>
              <a:t>Конструиране на заявки, свързани с БД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ru-RU" sz="1900" dirty="0">
                <a:solidFill>
                  <a:schemeClr val="accent1"/>
                </a:solidFill>
              </a:rPr>
              <a:t>Изготвяне на презентация на проекта</a:t>
            </a:r>
          </a:p>
          <a:p>
            <a:pPr marL="45720" indent="0">
              <a:buNone/>
            </a:pPr>
            <a:endParaRPr lang="bg-BG" sz="1900" dirty="0"/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bg-BG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alibri bold" panose="020F0702030404030204" pitchFamily="34" charset="0"/>
                <a:cs typeface="Calibri bold" panose="020F0702030404030204" pitchFamily="34" charset="0"/>
              </a:rPr>
              <a:t>РАЗПРЕДЕЛЕНИЕ НА РОЛИТЕ</a:t>
            </a:r>
            <a:endParaRPr lang="bg-BG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1715278" y="3788132"/>
            <a:ext cx="11562183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bg-BG" dirty="0"/>
          </a:p>
          <a:p>
            <a:endParaRPr lang="bg-BG" dirty="0"/>
          </a:p>
          <a:p>
            <a:endParaRPr lang="bg-BG" dirty="0"/>
          </a:p>
          <a:p>
            <a:endParaRPr lang="bg-BG" dirty="0"/>
          </a:p>
        </p:txBody>
      </p:sp>
      <p:sp>
        <p:nvSpPr>
          <p:cNvPr id="9" name="TextBox 8"/>
          <p:cNvSpPr txBox="1"/>
          <p:nvPr/>
        </p:nvSpPr>
        <p:spPr>
          <a:xfrm>
            <a:off x="6368717" y="1994308"/>
            <a:ext cx="4985083" cy="168353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b">
            <a:spAutoFit/>
          </a:bodyPr>
          <a:lstStyle/>
          <a:p>
            <a:pPr algn="ctr" defTabSz="914400">
              <a:lnSpc>
                <a:spcPct val="90000"/>
              </a:lnSpc>
              <a:spcBef>
                <a:spcPts val="1400"/>
              </a:spcBef>
              <a:buClr>
                <a:schemeClr val="accent1"/>
              </a:buClr>
              <a:buSzPct val="80000"/>
              <a:buFont typeface="Corbel" pitchFamily="34" charset="0"/>
            </a:pPr>
            <a:r>
              <a:rPr lang="bg-BG" sz="1900" dirty="0">
                <a:solidFill>
                  <a:schemeClr val="accent1"/>
                </a:solidFill>
              </a:rPr>
              <a:t>Виктория Минчева</a:t>
            </a:r>
            <a:endParaRPr lang="en-GB" sz="1900" dirty="0">
              <a:solidFill>
                <a:schemeClr val="accent1"/>
              </a:solidFill>
            </a:endParaRPr>
          </a:p>
          <a:p>
            <a:pPr marL="342900" indent="-342900" defTabSz="914400">
              <a:lnSpc>
                <a:spcPct val="90000"/>
              </a:lnSpc>
              <a:spcBef>
                <a:spcPts val="1400"/>
              </a:spcBef>
              <a:buClr>
                <a:schemeClr val="accent1"/>
              </a:buClr>
              <a:buSzPct val="80000"/>
              <a:buFont typeface="Arial" panose="020B0604020202020204" pitchFamily="34" charset="0"/>
              <a:buChar char="•"/>
            </a:pPr>
            <a:r>
              <a:rPr lang="bg-BG" sz="1900" dirty="0">
                <a:solidFill>
                  <a:schemeClr val="accent1"/>
                </a:solidFill>
              </a:rPr>
              <a:t>Анализ на изискванията и планиране</a:t>
            </a:r>
          </a:p>
          <a:p>
            <a:pPr marL="342900" indent="-342900" defTabSz="914400">
              <a:lnSpc>
                <a:spcPct val="90000"/>
              </a:lnSpc>
              <a:spcBef>
                <a:spcPts val="1400"/>
              </a:spcBef>
              <a:buClr>
                <a:schemeClr val="accent1"/>
              </a:buClr>
              <a:buSzPct val="80000"/>
              <a:buFont typeface="Arial" panose="020B0604020202020204" pitchFamily="34" charset="0"/>
              <a:buChar char="•"/>
            </a:pPr>
            <a:r>
              <a:rPr lang="ru-RU" sz="1900" dirty="0">
                <a:solidFill>
                  <a:schemeClr val="accent1"/>
                </a:solidFill>
              </a:rPr>
              <a:t>Конструиране на заявки , свързани с БД </a:t>
            </a:r>
          </a:p>
          <a:p>
            <a:pPr marL="342900" indent="-342900" defTabSz="914400">
              <a:lnSpc>
                <a:spcPct val="90000"/>
              </a:lnSpc>
              <a:spcBef>
                <a:spcPts val="1400"/>
              </a:spcBef>
              <a:buClr>
                <a:schemeClr val="accent1"/>
              </a:buClr>
              <a:buSzPct val="80000"/>
              <a:buFont typeface="Arial" panose="020B0604020202020204" pitchFamily="34" charset="0"/>
              <a:buChar char="•"/>
            </a:pPr>
            <a:r>
              <a:rPr lang="ru-RU" sz="1900" dirty="0">
                <a:solidFill>
                  <a:schemeClr val="accent1"/>
                </a:solidFill>
              </a:rPr>
              <a:t>Създаване на документацията</a:t>
            </a:r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2676330" y="4332701"/>
            <a:ext cx="6839339" cy="18056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1400"/>
              </a:spcBef>
              <a:buClr>
                <a:schemeClr val="accent1"/>
              </a:buClr>
              <a:buSzPct val="80000"/>
              <a:buFont typeface="Corbel" pitchFamily="34" charset="0"/>
              <a:buNone/>
            </a:pPr>
            <a:r>
              <a:rPr lang="bg-BG" sz="1900" dirty="0">
                <a:solidFill>
                  <a:schemeClr val="accent1"/>
                </a:solidFill>
              </a:rPr>
              <a:t>Даяна Кънчева</a:t>
            </a:r>
          </a:p>
          <a:p>
            <a:pPr>
              <a:spcBef>
                <a:spcPts val="1400"/>
              </a:spcBef>
              <a:buClr>
                <a:schemeClr val="accent1"/>
              </a:buClr>
              <a:buSzPct val="80000"/>
              <a:buFont typeface="Corbel" pitchFamily="34" charset="0"/>
            </a:pPr>
            <a:r>
              <a:rPr lang="ru-RU" sz="1900" dirty="0">
                <a:solidFill>
                  <a:schemeClr val="accent1"/>
                </a:solidFill>
              </a:rPr>
              <a:t>Свързване на таблиците в релация и изготвяне на модел</a:t>
            </a:r>
          </a:p>
          <a:p>
            <a:pPr>
              <a:spcBef>
                <a:spcPts val="1400"/>
              </a:spcBef>
              <a:buClr>
                <a:schemeClr val="accent1"/>
              </a:buClr>
              <a:buSzPct val="80000"/>
              <a:buFont typeface="Corbel" pitchFamily="34" charset="0"/>
            </a:pPr>
            <a:r>
              <a:rPr lang="ru-RU" sz="1900" dirty="0">
                <a:solidFill>
                  <a:schemeClr val="accent1"/>
                </a:solidFill>
              </a:rPr>
              <a:t>Попълване на таблиците в БД с информация</a:t>
            </a:r>
          </a:p>
          <a:p>
            <a:pPr>
              <a:spcBef>
                <a:spcPts val="1400"/>
              </a:spcBef>
              <a:buClr>
                <a:schemeClr val="accent1"/>
              </a:buClr>
              <a:buSzPct val="80000"/>
              <a:buFont typeface="Corbel" pitchFamily="34" charset="0"/>
            </a:pPr>
            <a:r>
              <a:rPr lang="ru-RU" sz="1900" dirty="0">
                <a:solidFill>
                  <a:schemeClr val="accent1"/>
                </a:solidFill>
              </a:rPr>
              <a:t>Тестване на проекта</a:t>
            </a:r>
          </a:p>
          <a:p>
            <a:pPr marL="0" indent="0">
              <a:buNone/>
            </a:pPr>
            <a:endParaRPr lang="bg-BG" sz="1900" dirty="0"/>
          </a:p>
        </p:txBody>
      </p:sp>
    </p:spTree>
    <p:extLst>
      <p:ext uri="{BB962C8B-B14F-4D97-AF65-F5344CB8AC3E}">
        <p14:creationId xmlns:p14="http://schemas.microsoft.com/office/powerpoint/2010/main" val="30092922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bg-BG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alibri bold" panose="020F0702030404030204" pitchFamily="34" charset="0"/>
                <a:cs typeface="Calibri bold" panose="020F0702030404030204" pitchFamily="34" charset="0"/>
              </a:rPr>
              <a:t>ОСНОВНИ ЕТАПИ В РЕАЛИЗАЦИЯТА</a:t>
            </a:r>
            <a:endParaRPr lang="bg-BG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838200" y="2173930"/>
            <a:ext cx="11252227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spcBef>
                <a:spcPts val="1400"/>
              </a:spcBef>
              <a:buClr>
                <a:schemeClr val="accent1"/>
              </a:buClr>
              <a:buSzPct val="80000"/>
              <a:buFont typeface="Corbel" pitchFamily="34" charset="0"/>
              <a:buChar char="•"/>
            </a:pPr>
            <a:r>
              <a:rPr lang="ru-RU" sz="2200" dirty="0">
                <a:solidFill>
                  <a:schemeClr val="accent1"/>
                </a:solidFill>
              </a:rPr>
              <a:t>Обсъждане и събиране на идеи за проекта</a:t>
            </a:r>
          </a:p>
          <a:p>
            <a:pPr lvl="0">
              <a:spcBef>
                <a:spcPts val="1400"/>
              </a:spcBef>
              <a:buClr>
                <a:schemeClr val="accent1"/>
              </a:buClr>
              <a:buSzPct val="80000"/>
              <a:buFont typeface="Corbel" pitchFamily="34" charset="0"/>
              <a:buChar char="•"/>
            </a:pPr>
            <a:r>
              <a:rPr lang="ru-RU" sz="2200" dirty="0">
                <a:solidFill>
                  <a:schemeClr val="accent1"/>
                </a:solidFill>
              </a:rPr>
              <a:t>Обсъждане на дизайн и релации между таблиците в БД</a:t>
            </a:r>
          </a:p>
          <a:p>
            <a:pPr lvl="0">
              <a:spcBef>
                <a:spcPts val="1400"/>
              </a:spcBef>
              <a:buClr>
                <a:schemeClr val="accent1"/>
              </a:buClr>
              <a:buSzPct val="80000"/>
              <a:buFont typeface="Corbel" pitchFamily="34" charset="0"/>
              <a:buChar char="•"/>
            </a:pPr>
            <a:r>
              <a:rPr lang="ru-RU" sz="2200" dirty="0">
                <a:solidFill>
                  <a:schemeClr val="accent1"/>
                </a:solidFill>
              </a:rPr>
              <a:t>Създаване на БД</a:t>
            </a:r>
          </a:p>
          <a:p>
            <a:pPr lvl="0">
              <a:spcBef>
                <a:spcPts val="1400"/>
              </a:spcBef>
              <a:buClr>
                <a:schemeClr val="accent1"/>
              </a:buClr>
              <a:buSzPct val="80000"/>
              <a:buFont typeface="Corbel" pitchFamily="34" charset="0"/>
              <a:buChar char="•"/>
            </a:pPr>
            <a:r>
              <a:rPr lang="ru-RU" sz="2200" dirty="0">
                <a:solidFill>
                  <a:schemeClr val="accent1"/>
                </a:solidFill>
              </a:rPr>
              <a:t>Въвеждане на информация в БД</a:t>
            </a:r>
          </a:p>
          <a:p>
            <a:pPr lvl="0">
              <a:spcBef>
                <a:spcPts val="1400"/>
              </a:spcBef>
              <a:buClr>
                <a:schemeClr val="accent1"/>
              </a:buClr>
              <a:buSzPct val="80000"/>
              <a:buFont typeface="Corbel" pitchFamily="34" charset="0"/>
              <a:buChar char="•"/>
            </a:pPr>
            <a:r>
              <a:rPr lang="ru-RU" sz="2200" dirty="0">
                <a:solidFill>
                  <a:schemeClr val="accent1"/>
                </a:solidFill>
              </a:rPr>
              <a:t>Конструиране на заявки към БД</a:t>
            </a:r>
          </a:p>
          <a:p>
            <a:pPr lvl="0">
              <a:spcBef>
                <a:spcPts val="1400"/>
              </a:spcBef>
              <a:buClr>
                <a:schemeClr val="accent1"/>
              </a:buClr>
              <a:buSzPct val="80000"/>
              <a:buFont typeface="Corbel" pitchFamily="34" charset="0"/>
              <a:buChar char="•"/>
            </a:pPr>
            <a:r>
              <a:rPr lang="ru-RU" sz="2200" dirty="0">
                <a:solidFill>
                  <a:schemeClr val="accent1"/>
                </a:solidFill>
              </a:rPr>
              <a:t>Писане на документация</a:t>
            </a:r>
          </a:p>
          <a:p>
            <a:pPr lvl="0">
              <a:spcBef>
                <a:spcPts val="1400"/>
              </a:spcBef>
              <a:buClr>
                <a:schemeClr val="accent1"/>
              </a:buClr>
              <a:buSzPct val="80000"/>
              <a:buFont typeface="Corbel" pitchFamily="34" charset="0"/>
              <a:buChar char="•"/>
            </a:pPr>
            <a:r>
              <a:rPr lang="ru-RU" sz="2200" dirty="0">
                <a:solidFill>
                  <a:schemeClr val="accent1"/>
                </a:solidFill>
              </a:rPr>
              <a:t>Изготвяне на презентация</a:t>
            </a:r>
          </a:p>
          <a:p>
            <a:pPr marL="514350" indent="-514350">
              <a:buFont typeface="+mj-lt"/>
              <a:buAutoNum type="arabicPeriod"/>
            </a:pPr>
            <a:endParaRPr lang="bg-BG" dirty="0"/>
          </a:p>
          <a:p>
            <a:endParaRPr lang="bg-BG" dirty="0"/>
          </a:p>
          <a:p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7170813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lded Corner 4"/>
          <p:cNvSpPr/>
          <p:nvPr/>
        </p:nvSpPr>
        <p:spPr>
          <a:xfrm>
            <a:off x="3258508" y="1965960"/>
            <a:ext cx="2813229" cy="1746958"/>
          </a:xfrm>
          <a:prstGeom prst="foldedCorner">
            <a:avLst/>
          </a:prstGeom>
          <a:solidFill>
            <a:srgbClr val="549E39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bg-BG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bg-BG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alibri bold" panose="020F0702030404030204" pitchFamily="34" charset="0"/>
                <a:cs typeface="Calibri bold" panose="020F0702030404030204" pitchFamily="34" charset="0"/>
              </a:rPr>
              <a:t>ИЗПОЛЗВАНА ТЕХНОЛОГИЯ</a:t>
            </a:r>
            <a:endParaRPr lang="bg-BG" dirty="0">
              <a:ln w="0"/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59110" y="2254395"/>
            <a:ext cx="3169646" cy="1361648"/>
          </a:xfrm>
        </p:spPr>
        <p:txBody>
          <a:bodyPr>
            <a:noAutofit/>
          </a:bodyPr>
          <a:lstStyle/>
          <a:p>
            <a:pPr marL="45720" lvl="1" indent="0" algn="ctr">
              <a:spcBef>
                <a:spcPts val="1000"/>
              </a:spcBef>
              <a:buNone/>
            </a:pPr>
            <a:r>
              <a:rPr lang="en-US" sz="4000" dirty="0">
                <a:solidFill>
                  <a:schemeClr val="bg1"/>
                </a:solidFill>
              </a:rPr>
              <a:t>MySQL Workbench</a:t>
            </a:r>
            <a:endParaRPr lang="bg-BG" sz="4000" dirty="0"/>
          </a:p>
        </p:txBody>
      </p:sp>
      <p:pic>
        <p:nvPicPr>
          <p:cNvPr id="10" name="Картина 9">
            <a:extLst>
              <a:ext uri="{FF2B5EF4-FFF2-40B4-BE49-F238E27FC236}">
                <a16:creationId xmlns:a16="http://schemas.microsoft.com/office/drawing/2014/main" id="{B1C7AB22-6E21-4CA0-964E-6B3ED91AB25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4539" y="2084747"/>
            <a:ext cx="2293963" cy="1628170"/>
          </a:xfrm>
          <a:prstGeom prst="rect">
            <a:avLst/>
          </a:prstGeom>
        </p:spPr>
      </p:pic>
      <p:pic>
        <p:nvPicPr>
          <p:cNvPr id="2052" name="Picture 4" descr="LearnSmart: PowerPoint 2013 - The Basics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030" t="12719" r="26712" b="13411"/>
          <a:stretch/>
        </p:blipFill>
        <p:spPr bwMode="auto">
          <a:xfrm>
            <a:off x="3554073" y="3904478"/>
            <a:ext cx="2366436" cy="2256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4"/>
          <a:srcRect l="12230" t="12279" r="9026" b="7736"/>
          <a:stretch/>
        </p:blipFill>
        <p:spPr>
          <a:xfrm>
            <a:off x="6627256" y="3904478"/>
            <a:ext cx="2221246" cy="2256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44244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bg-BG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alibri bold" panose="020F0702030404030204" pitchFamily="34" charset="0"/>
                <a:cs typeface="Calibri bold" panose="020F0702030404030204" pitchFamily="34" charset="0"/>
              </a:rPr>
              <a:t>РЕАЛИЗАЦИЯ НА ПРИЛОЖЕНИЕТО</a:t>
            </a:r>
            <a:endParaRPr lang="bg-BG" dirty="0">
              <a:ln w="0"/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bg-BG" dirty="0"/>
              <a:t>Създали сме локална база </a:t>
            </a:r>
            <a:r>
              <a:rPr lang="en-US" dirty="0"/>
              <a:t>MusicHub</a:t>
            </a:r>
            <a:r>
              <a:rPr lang="bg-BG" dirty="0"/>
              <a:t>, като за целта използвахме приложението </a:t>
            </a:r>
            <a:r>
              <a:rPr lang="en-US" dirty="0"/>
              <a:t>MySQL Workbench. </a:t>
            </a:r>
            <a:r>
              <a:rPr lang="bg-BG" dirty="0"/>
              <a:t>Базата се състои от таблиците:</a:t>
            </a:r>
            <a:endParaRPr lang="en-US" dirty="0"/>
          </a:p>
          <a:p>
            <a:pPr lvl="0"/>
            <a:r>
              <a:rPr lang="en-US" dirty="0"/>
              <a:t>Artists – </a:t>
            </a:r>
            <a:r>
              <a:rPr lang="bg-BG" dirty="0"/>
              <a:t>съдържа</a:t>
            </a:r>
            <a:r>
              <a:rPr lang="en-US" dirty="0"/>
              <a:t>: ArtistId, Name, Country,</a:t>
            </a:r>
            <a:r>
              <a:rPr lang="bg-BG" dirty="0"/>
              <a:t> </a:t>
            </a:r>
            <a:r>
              <a:rPr lang="en-US" dirty="0"/>
              <a:t>Genre</a:t>
            </a:r>
          </a:p>
          <a:p>
            <a:pPr lvl="0"/>
            <a:r>
              <a:rPr lang="en-US" dirty="0"/>
              <a:t>Albums – </a:t>
            </a:r>
            <a:r>
              <a:rPr lang="bg-BG" dirty="0"/>
              <a:t>съдържа</a:t>
            </a:r>
            <a:r>
              <a:rPr lang="en-US" dirty="0"/>
              <a:t>: Album­Id, Title, ReleaseYear, ArtistId </a:t>
            </a:r>
          </a:p>
          <a:p>
            <a:pPr lvl="0"/>
            <a:r>
              <a:rPr lang="en-US" dirty="0"/>
              <a:t>Songs – </a:t>
            </a:r>
            <a:r>
              <a:rPr lang="bg-BG" dirty="0"/>
              <a:t>съдържа</a:t>
            </a:r>
            <a:r>
              <a:rPr lang="en-US" dirty="0"/>
              <a:t>: SongId, Title, Duration, AlbumId</a:t>
            </a:r>
          </a:p>
          <a:p>
            <a:pPr lvl="0"/>
            <a:r>
              <a:rPr lang="en-US" dirty="0"/>
              <a:t>Playlists – </a:t>
            </a:r>
            <a:r>
              <a:rPr lang="bg-BG" dirty="0"/>
              <a:t>съдържа</a:t>
            </a:r>
            <a:r>
              <a:rPr lang="en-US" dirty="0"/>
              <a:t>: PlaylistId, Name, CreatedDate</a:t>
            </a:r>
          </a:p>
          <a:p>
            <a:pPr lvl="0"/>
            <a:r>
              <a:rPr lang="en-US" dirty="0"/>
              <a:t>PlaylistSongs – </a:t>
            </a:r>
            <a:r>
              <a:rPr lang="bg-BG" dirty="0"/>
              <a:t>съдържа</a:t>
            </a:r>
            <a:r>
              <a:rPr lang="en-US" dirty="0"/>
              <a:t>: PlaylistId, SongId</a:t>
            </a:r>
          </a:p>
          <a:p>
            <a:pPr lvl="0"/>
            <a:r>
              <a:rPr lang="en-US" dirty="0"/>
              <a:t>Users – </a:t>
            </a:r>
            <a:r>
              <a:rPr lang="bg-BG" dirty="0"/>
              <a:t>съдържа</a:t>
            </a:r>
            <a:r>
              <a:rPr lang="en-US" dirty="0"/>
              <a:t>: UserId, Username, Email</a:t>
            </a:r>
          </a:p>
          <a:p>
            <a:pPr lvl="0"/>
            <a:r>
              <a:rPr lang="en-US" dirty="0"/>
              <a:t>UserPlaylists – </a:t>
            </a:r>
            <a:r>
              <a:rPr lang="bg-BG" dirty="0"/>
              <a:t>съдържа: </a:t>
            </a:r>
            <a:r>
              <a:rPr lang="en-US" dirty="0"/>
              <a:t>UserId, PlaylistsId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F9F5269-C8A0-485D-84CD-F25168172D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10165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617A80EB-11E7-4655-AA16-0D3D11D8E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</p:spPr>
        <p:txBody>
          <a:bodyPr/>
          <a:lstStyle/>
          <a:p>
            <a:pPr algn="ctr"/>
            <a:r>
              <a:rPr lang="bg-BG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alibri bold" panose="020F0702030404030204" pitchFamily="34" charset="0"/>
                <a:cs typeface="Calibri bold" panose="020F0702030404030204" pitchFamily="34" charset="0"/>
              </a:rPr>
              <a:t>РЕАЛИЗАЦИЯ НА ПРИЛОЖЕНИЕТО</a:t>
            </a:r>
            <a:endParaRPr lang="bg-BG" dirty="0">
              <a:ln w="0"/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4" name="Picture 3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6203" y="1524144"/>
            <a:ext cx="6409113" cy="468546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2490561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C70FE9A1-B261-411C-8454-74126DC85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bg-BG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alibri bold" panose="020F0702030404030204" pitchFamily="34" charset="0"/>
                <a:cs typeface="Calibri bold" panose="020F0702030404030204" pitchFamily="34" charset="0"/>
              </a:rPr>
              <a:t>СЪЩНОСТ НА БАЗАТА ДАННИ:</a:t>
            </a:r>
            <a:endParaRPr lang="en-GB" dirty="0">
              <a:ln w="0"/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Calibri bold" panose="020F0702030404030204" pitchFamily="34" charset="0"/>
              <a:cs typeface="Calibri bold" panose="020F0702030404030204" pitchFamily="34" charset="0"/>
            </a:endParaRPr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id="{8085923B-E8CD-4600-AB50-53D59DFF8D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2382" y="2110926"/>
            <a:ext cx="10207236" cy="3743464"/>
          </a:xfrm>
        </p:spPr>
        <p:txBody>
          <a:bodyPr>
            <a:normAutofit/>
          </a:bodyPr>
          <a:lstStyle/>
          <a:p>
            <a:pPr lvl="0"/>
            <a:r>
              <a:rPr lang="bg-BG" b="1" dirty="0"/>
              <a:t>Структура: </a:t>
            </a:r>
            <a:r>
              <a:rPr lang="bg-BG" dirty="0"/>
              <a:t>Базата данни включва таблици за изпълнители, албуми, песни, плейлисти и потребители, както и свързващи таблици за реализиране на много-към-много връзки. Връзките между таблиците са ясно дефинирани чрез първични и външни ключове, което осигурява логическа последователност и целостта на данните.</a:t>
            </a:r>
            <a:endParaRPr lang="en-US" dirty="0"/>
          </a:p>
          <a:p>
            <a:pPr lvl="0"/>
            <a:r>
              <a:rPr lang="bg-BG" b="1" dirty="0"/>
              <a:t>Функционалности: </a:t>
            </a:r>
            <a:r>
              <a:rPr lang="bg-BG" dirty="0"/>
              <a:t>Извличане на информация за плейлисти, песни и албуми чрез </a:t>
            </a:r>
            <a:r>
              <a:rPr lang="en-US" dirty="0"/>
              <a:t>My</a:t>
            </a:r>
            <a:r>
              <a:rPr lang="bg-BG" dirty="0"/>
              <a:t>SQL заявки – например, заявки за всички песни по-дълги от </a:t>
            </a:r>
            <a:r>
              <a:rPr lang="en-US" dirty="0"/>
              <a:t>300</a:t>
            </a:r>
            <a:r>
              <a:rPr lang="bg-BG" dirty="0"/>
              <a:t> секунди</a:t>
            </a:r>
            <a:endParaRPr lang="en-US" dirty="0"/>
          </a:p>
          <a:p>
            <a:pPr marL="4572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282702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248C85-C3A0-B692-3F64-B8BA516EAC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7676F26D-BD93-B615-95EA-F7277DD1F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bg-BG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alibri bold" panose="020F0702030404030204" pitchFamily="34" charset="0"/>
                <a:cs typeface="Calibri bold" panose="020F0702030404030204" pitchFamily="34" charset="0"/>
              </a:rPr>
              <a:t>СЪЩНОСТ НА БАЗАТА ДАННИ:</a:t>
            </a:r>
            <a:endParaRPr lang="en-GB" dirty="0">
              <a:ln w="0"/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Calibri bold" panose="020F0702030404030204" pitchFamily="34" charset="0"/>
              <a:cs typeface="Calibri bold" panose="020F0702030404030204" pitchFamily="34" charset="0"/>
            </a:endParaRPr>
          </a:p>
        </p:txBody>
      </p:sp>
      <p:sp>
        <p:nvSpPr>
          <p:cNvPr id="3" name="Контейнер за съдържание 2">
            <a:extLst>
              <a:ext uri="{FF2B5EF4-FFF2-40B4-BE49-F238E27FC236}">
                <a16:creationId xmlns:a16="http://schemas.microsoft.com/office/drawing/2014/main" id="{785BD8D1-982C-8180-D7A8-EC2F4F7282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3563" y="2177833"/>
            <a:ext cx="10104874" cy="3587347"/>
          </a:xfrm>
        </p:spPr>
        <p:txBody>
          <a:bodyPr>
            <a:normAutofit/>
          </a:bodyPr>
          <a:lstStyle/>
          <a:p>
            <a:pPr lvl="0"/>
            <a:r>
              <a:rPr lang="bg-BG" b="1" dirty="0"/>
              <a:t>Динамичност: </a:t>
            </a:r>
            <a:r>
              <a:rPr lang="bg-BG" dirty="0"/>
              <a:t>Базата данни поддържа актуализация и разширяване на информацията, като добавяне на нови изпълнители, албуми и песни, редактиране на съществуващи плейлисти или промяна на съдържанието им. Това позволява системата да се адаптира към постоянно нарастващия обем от музикално съдържание.</a:t>
            </a:r>
            <a:endParaRPr lang="en-US" dirty="0"/>
          </a:p>
          <a:p>
            <a:pPr lvl="0"/>
            <a:r>
              <a:rPr lang="bg-BG" b="1" dirty="0"/>
              <a:t>Екипна работа: </a:t>
            </a:r>
            <a:r>
              <a:rPr lang="bg-BG" dirty="0"/>
              <a:t>Реализиран от трима души, като задачите включват създаване на таблици, писане на заявки и тестване.</a:t>
            </a:r>
            <a:endParaRPr lang="en-US" dirty="0"/>
          </a:p>
          <a:p>
            <a:pPr marL="4572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803051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bg-BG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alibri bold" panose="020F0702030404030204" pitchFamily="34" charset="0"/>
                <a:cs typeface="Calibri bold" panose="020F0702030404030204" pitchFamily="34" charset="0"/>
              </a:rPr>
              <a:t>РАЗВИТИЕ И НОВОВЪВЕДЕНИЯ</a:t>
            </a:r>
            <a:endParaRPr lang="en-US" dirty="0">
              <a:ln w="0"/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0" y="2049835"/>
            <a:ext cx="9875520" cy="4351338"/>
          </a:xfrm>
        </p:spPr>
        <p:txBody>
          <a:bodyPr/>
          <a:lstStyle/>
          <a:p>
            <a:pPr marL="0" indent="0">
              <a:spcAft>
                <a:spcPts val="3600"/>
              </a:spcAft>
              <a:buNone/>
            </a:pPr>
            <a:r>
              <a:rPr lang="bg-BG" b="1" dirty="0"/>
              <a:t>Бъдещите ни цели включват:</a:t>
            </a:r>
            <a:endParaRPr lang="en-GB" b="1" dirty="0"/>
          </a:p>
          <a:p>
            <a:pPr marL="342900" indent="-342900">
              <a:spcAft>
                <a:spcPts val="3600"/>
              </a:spcAft>
            </a:pPr>
            <a:r>
              <a:rPr lang="bg-BG" dirty="0"/>
              <a:t>разширяване на функционалността</a:t>
            </a:r>
            <a:endParaRPr lang="en-GB" dirty="0"/>
          </a:p>
          <a:p>
            <a:pPr marL="342900" indent="-342900">
              <a:spcAft>
                <a:spcPts val="3600"/>
              </a:spcAft>
            </a:pPr>
            <a:r>
              <a:rPr lang="bg-BG" dirty="0"/>
              <a:t>добавяне на нови таблици в БД</a:t>
            </a:r>
            <a:endParaRPr lang="en-US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3187" y="1965960"/>
            <a:ext cx="3377391" cy="3377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27128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bg-BG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alibri bold" panose="020F0702030404030204" pitchFamily="34" charset="0"/>
                <a:cs typeface="Calibri bold" panose="020F0702030404030204" pitchFamily="34" charset="0"/>
              </a:rPr>
              <a:t>ИЗПОЛЗВАНА ЛИТЕРАТУРА</a:t>
            </a:r>
            <a:endParaRPr lang="bg-BG" dirty="0">
              <a:ln w="0"/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0" y="2331605"/>
            <a:ext cx="9872871" cy="2908183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hlinkClick r:id="rId2"/>
              </a:rPr>
              <a:t>https://dev.mysql.com/doc/workbench/en/</a:t>
            </a:r>
            <a:endParaRPr lang="en-US" dirty="0"/>
          </a:p>
          <a:p>
            <a:pPr marL="0" indent="0">
              <a:buNone/>
            </a:pPr>
            <a:r>
              <a:rPr lang="en-US" dirty="0">
                <a:hlinkClick r:id="rId3"/>
              </a:rPr>
              <a:t>https://www.w3schools.com/MySQL/default.asp</a:t>
            </a:r>
            <a:endParaRPr lang="bg-BG" dirty="0"/>
          </a:p>
          <a:p>
            <a:pPr marL="0" indent="0">
              <a:buNone/>
            </a:pPr>
            <a:r>
              <a:rPr lang="en-US" dirty="0">
                <a:hlinkClick r:id="rId4"/>
              </a:rPr>
              <a:t>https://www.chatgpt.com/</a:t>
            </a:r>
            <a:r>
              <a:rPr lang="en-US" dirty="0"/>
              <a:t> - </a:t>
            </a:r>
            <a:r>
              <a:rPr lang="bg-BG" dirty="0"/>
              <a:t>за генериране на примерни данни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bg-BG" dirty="0"/>
          </a:p>
        </p:txBody>
      </p:sp>
      <p:pic>
        <p:nvPicPr>
          <p:cNvPr id="3076" name="Picture 4" descr="Musical Instruments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494" b="10527"/>
          <a:stretch/>
        </p:blipFill>
        <p:spPr bwMode="auto">
          <a:xfrm>
            <a:off x="7075395" y="3780263"/>
            <a:ext cx="4620700" cy="2667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789578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Purple Cute Watercolor Education Music Note Powerpoint Background For Free  Download - Slidesdocs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85" r="201"/>
          <a:stretch/>
        </p:blipFill>
        <p:spPr bwMode="auto">
          <a:xfrm>
            <a:off x="216130" y="249381"/>
            <a:ext cx="11762510" cy="6392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02673"/>
            <a:ext cx="10515600" cy="2185790"/>
          </a:xfrm>
        </p:spPr>
        <p:txBody>
          <a:bodyPr>
            <a:noAutofit/>
          </a:bodyPr>
          <a:lstStyle/>
          <a:p>
            <a:pPr algn="ctr"/>
            <a:r>
              <a:rPr lang="bg-BG" sz="66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БЛАГОДАРИМ ВИ ЗА </a:t>
            </a:r>
            <a:r>
              <a:rPr lang="bg-BG" sz="6600" b="1" dirty="0">
                <a:ln w="6600">
                  <a:solidFill>
                    <a:srgbClr val="6DB11A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ВНИМАНИЕТО</a:t>
            </a:r>
            <a:r>
              <a:rPr lang="bg-BG" sz="66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!</a:t>
            </a:r>
            <a:endParaRPr lang="en-US" sz="66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930949959"/>
      </p:ext>
    </p:extLst>
  </p:cSld>
  <p:clrMapOvr>
    <a:masterClrMapping/>
  </p:clrMapOvr>
</p:sld>
</file>

<file path=ppt/theme/theme1.xml><?xml version="1.0" encoding="utf-8"?>
<a:theme xmlns:a="http://schemas.openxmlformats.org/drawingml/2006/main" name="База">
  <a:themeElements>
    <a:clrScheme name="Violet">
      <a:dk1>
        <a:sysClr val="windowText" lastClr="000000"/>
      </a:dk1>
      <a:lt1>
        <a:sysClr val="window" lastClr="FFFFFF"/>
      </a:lt1>
      <a:dk2>
        <a:srgbClr val="373545"/>
      </a:dk2>
      <a:lt2>
        <a:srgbClr val="DCD8DC"/>
      </a:lt2>
      <a:accent1>
        <a:srgbClr val="AD84C6"/>
      </a:accent1>
      <a:accent2>
        <a:srgbClr val="8784C7"/>
      </a:accent2>
      <a:accent3>
        <a:srgbClr val="5D739A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База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База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90E45F77-AEFC-46EF-A7C1-5B338C297B0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TM03457444[[fn=База]]</Template>
  <TotalTime>425</TotalTime>
  <Words>555</Words>
  <Application>Microsoft Macintosh PowerPoint</Application>
  <PresentationFormat>Widescreen</PresentationFormat>
  <Paragraphs>64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Bernard MT Condensed</vt:lpstr>
      <vt:lpstr>Calibri bold</vt:lpstr>
      <vt:lpstr>Corbel</vt:lpstr>
      <vt:lpstr>База</vt:lpstr>
      <vt:lpstr>PowerPoint Presentation</vt:lpstr>
      <vt:lpstr>ЗА НАС:</vt:lpstr>
      <vt:lpstr>Цел</vt:lpstr>
      <vt:lpstr>Цел</vt:lpstr>
      <vt:lpstr>PowerPoint Presentation</vt:lpstr>
      <vt:lpstr>PowerPoint Presentation</vt:lpstr>
      <vt:lpstr>ИЗПОЛЗВАНА ТЕХНОЛОГИЯ</vt:lpstr>
      <vt:lpstr>РЕАЛИЗАЦИЯ НА ПРИЛОЖЕНИЕТО</vt:lpstr>
      <vt:lpstr>РЕАЛИЗАЦИЯ НА ПРИЛОЖЕНИЕТО</vt:lpstr>
      <vt:lpstr>СЪЩНОСТ НА БАЗАТА ДАННИ:</vt:lpstr>
      <vt:lpstr>СЪЩНОСТ НА БАЗАТА ДАННИ:</vt:lpstr>
      <vt:lpstr>РАЗВИТИЕ И НОВОВЪВЕДЕНИЯ</vt:lpstr>
      <vt:lpstr>ИЗПОЛЗВАНА ЛИТЕРАТУРА</vt:lpstr>
      <vt:lpstr>БЛАГОДАРИМ ВИ ЗА ВНИМАНИЕТО!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user1</dc:creator>
  <cp:lastModifiedBy>ДИМИТЪР Д. БЕЛИНОВ</cp:lastModifiedBy>
  <cp:revision>55</cp:revision>
  <dcterms:created xsi:type="dcterms:W3CDTF">2023-03-25T09:03:48Z</dcterms:created>
  <dcterms:modified xsi:type="dcterms:W3CDTF">2026-01-17T10:53:46Z</dcterms:modified>
</cp:coreProperties>
</file>